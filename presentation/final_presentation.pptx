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955279" y="914400"/>
            <a:ext cx="3383280" cy="3383280"/>
          </a:xfrm>
          <a:prstGeom prst="ellipse">
            <a:avLst/>
          </a:prstGeom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503920" y="1417320"/>
            <a:ext cx="2377440" cy="2377440"/>
          </a:xfrm>
          <a:prstGeom prst="ellipse">
            <a:avLst/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052560" y="1965960"/>
            <a:ext cx="1280160" cy="1280160"/>
          </a:xfrm>
          <a:prstGeom prst="ellipse">
            <a:avLst/>
          </a:prstGeom>
          <a:solidFill>
            <a:srgbClr val="1241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321040" y="1828800"/>
            <a:ext cx="914400" cy="640080"/>
          </a:xfrm>
          <a:prstGeom prst="line">
            <a:avLst/>
          </a:prstGeom>
          <a:ln w="19050">
            <a:solidFill>
              <a:srgbClr val="29D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235440" y="1828800"/>
            <a:ext cx="1280160" cy="640080"/>
          </a:xfrm>
          <a:prstGeom prst="line">
            <a:avLst/>
          </a:prstGeom>
          <a:ln w="19050">
            <a:solidFill>
              <a:srgbClr val="41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235440" y="2468880"/>
            <a:ext cx="1188720" cy="731520"/>
          </a:xfrm>
          <a:prstGeom prst="line">
            <a:avLst/>
          </a:prstGeom>
          <a:ln w="19050">
            <a:solidFill>
              <a:srgbClr val="29D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8321040" y="1828800"/>
            <a:ext cx="548640" cy="1554480"/>
          </a:xfrm>
          <a:prstGeom prst="line">
            <a:avLst/>
          </a:prstGeom>
          <a:ln w="19050">
            <a:solidFill>
              <a:srgbClr val="41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869680" y="3200400"/>
            <a:ext cx="1554480" cy="182880"/>
          </a:xfrm>
          <a:prstGeom prst="line">
            <a:avLst/>
          </a:prstGeom>
          <a:ln w="19050">
            <a:solidFill>
              <a:srgbClr val="29D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8257031" y="1764792"/>
            <a:ext cx="128016" cy="128016"/>
          </a:xfrm>
          <a:prstGeom prst="ellipse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71432" y="2404872"/>
            <a:ext cx="128016" cy="128016"/>
          </a:xfrm>
          <a:prstGeom prst="ellipse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451592" y="1764792"/>
            <a:ext cx="128016" cy="128016"/>
          </a:xfrm>
          <a:prstGeom prst="ellipse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360152" y="3136392"/>
            <a:ext cx="128016" cy="128016"/>
          </a:xfrm>
          <a:prstGeom prst="ellipse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805672" y="3319272"/>
            <a:ext cx="128016" cy="128016"/>
          </a:xfrm>
          <a:prstGeom prst="ellipse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8368" y="749808"/>
            <a:ext cx="2880360" cy="292608"/>
          </a:xfrm>
          <a:prstGeom prst="roundRect">
            <a:avLst>
              <a:gd name="adj" fmla="val 12000"/>
            </a:avLst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19" y="768096"/>
            <a:ext cx="273405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DCC1"/>
                </a:solidFill>
                <a:latin typeface="Aptos"/>
              </a:rPr>
              <a:t>TAILWYNDZ PROPEL  •  ASSESSMENT 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1417320"/>
            <a:ext cx="6949440" cy="1508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2F7FC"/>
                </a:solidFill>
                <a:latin typeface="Aptos Display"/>
              </a:rPr>
              <a:t>Customer Churn
Prediction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127248"/>
            <a:ext cx="630936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DCC1"/>
                </a:solidFill>
                <a:latin typeface="Aptos"/>
              </a:rPr>
              <a:t>FreshBasket Retail Loyalty Program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" y="3675887"/>
            <a:ext cx="658368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B7CA"/>
                </a:solidFill>
                <a:latin typeface="Aptos"/>
              </a:rPr>
              <a:t>From customer behaviour signals to a testable retention strategy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94944" y="4773168"/>
            <a:ext cx="5522976" cy="0"/>
          </a:xfrm>
          <a:prstGeom prst="line">
            <a:avLst/>
          </a:prstGeom>
          <a:ln w="1270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94944" y="5010912"/>
            <a:ext cx="384048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"/>
              </a:rPr>
              <a:t>Meharunshiya 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" y="5376672"/>
            <a:ext cx="630936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BE Computer Science &amp; Design  •  Kongu Engineering College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Tailwyndz Propel Internship Program  •  Assessment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01 / BUSINESS FRAMING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The goal is not to predict churn—it is to make outreach more selective.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FreshBasket needs a defensible way to prioritise retention investigation before customers go quiet.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783080"/>
            <a:ext cx="4663440" cy="416052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057400"/>
            <a:ext cx="1920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THE DECISION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468880"/>
            <a:ext cx="3840480" cy="1051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Who should the loyalty team contact first?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730752"/>
            <a:ext cx="3794760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A6B7CA"/>
                </a:solidFill>
                <a:latin typeface="Aptos"/>
              </a:rPr>
              <a:t>Use pre-cutoff behaviour to rank risk, then combine the score with reachability and support context.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5074920"/>
            <a:ext cx="2011680" cy="292608"/>
          </a:xfrm>
          <a:prstGeom prst="roundRect">
            <a:avLst>
              <a:gd name="adj" fmla="val 12000"/>
            </a:avLst>
          </a:prstGeom>
          <a:solidFill>
            <a:srgbClr val="14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5093207"/>
            <a:ext cx="1865376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74D"/>
                </a:solidFill>
                <a:latin typeface="Aptos"/>
              </a:rPr>
              <a:t>HUMAN-IN-THE-LOOP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77840" y="1847088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577840" y="1847088"/>
            <a:ext cx="50292" cy="1325880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965960"/>
            <a:ext cx="15179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9DCC1"/>
                </a:solidFill>
                <a:latin typeface="Aptos Display"/>
              </a:rPr>
              <a:t>29.7%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2432304"/>
            <a:ext cx="15179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Eligible-cohort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0720" y="2816351"/>
            <a:ext cx="15179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Approx. overall rate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35240" y="1847088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635240" y="1847088"/>
            <a:ext cx="50292" cy="1325880"/>
          </a:xfrm>
          <a:prstGeom prst="rect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18119" y="1965960"/>
            <a:ext cx="15179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1BEFF"/>
                </a:solidFill>
                <a:latin typeface="Aptos Display"/>
              </a:rPr>
              <a:t>11.3%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8119" y="2432304"/>
            <a:ext cx="15179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Later-cohort churn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18119" y="2816351"/>
            <a:ext cx="15179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Primary test cohort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2640" y="1847088"/>
            <a:ext cx="1828800" cy="132588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1847088"/>
            <a:ext cx="50292" cy="132588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19" y="1965960"/>
            <a:ext cx="15179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74D"/>
                </a:solidFill>
                <a:latin typeface="Aptos Display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19" y="2432304"/>
            <a:ext cx="15179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Outcome window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19" y="2816351"/>
            <a:ext cx="15179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Apr–Jun 2024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596128" y="3703320"/>
            <a:ext cx="27432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7FC"/>
                </a:solidFill>
                <a:latin typeface="Aptos"/>
              </a:rPr>
              <a:t>Business implication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596128" y="4041648"/>
            <a:ext cx="5303520" cy="1508760"/>
          </a:xfrm>
          <a:prstGeom prst="rect">
            <a:avLst/>
          </a:prstGeom>
          <a:noFill/>
        </p:spPr>
        <p:txBody>
          <a:bodyPr wrap="square" lIns="45720" rIns="45720" tIns="36576" bIns="36576">
            <a:spAutoFit/>
          </a:bodyPr>
          <a:lstStyle/>
          <a:p>
            <a:pPr>
              <a:spcAft>
                <a:spcPts val="1000"/>
              </a:spcAft>
              <a:defRPr sz="1100">
                <a:solidFill>
                  <a:srgbClr val="A6B7CA"/>
                </a:solidFill>
                <a:latin typeface="Aptos"/>
              </a:defRPr>
            </a:pPr>
            <a:r>
              <a:t>•  Blanket offers can waste contact budget.</a:t>
            </a:r>
          </a:p>
          <a:p>
            <a:pPr>
              <a:spcAft>
                <a:spcPts val="1000"/>
              </a:spcAft>
              <a:defRPr sz="1100">
                <a:solidFill>
                  <a:srgbClr val="A6B7CA"/>
                </a:solidFill>
                <a:latin typeface="Aptos"/>
              </a:defRPr>
            </a:pPr>
            <a:r>
              <a:t>•  Already-lapsed members need win-back, not prevention.</a:t>
            </a:r>
          </a:p>
          <a:p>
            <a:pPr>
              <a:spcAft>
                <a:spcPts val="1000"/>
              </a:spcAft>
              <a:defRPr sz="1100">
                <a:solidFill>
                  <a:srgbClr val="A6B7CA"/>
                </a:solidFill>
                <a:latin typeface="Aptos"/>
              </a:defRPr>
            </a:pPr>
            <a:r>
              <a:t>•  A risk score is a prioritisation aid—not an automatic decision.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02 / DATA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Three source tables become one modelling cohort.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The analysis preserves supplied churn labels and excludes customers without sufficient history.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" y="182880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01168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CUSTOMER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350008"/>
            <a:ext cx="20116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2,600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770632"/>
            <a:ext cx="2743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customer records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072384"/>
            <a:ext cx="294436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Identity, tier, city and demographics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43983" y="182880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45151" y="201168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MONTHLY ACTIVITY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2350008"/>
            <a:ext cx="20116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28,015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45151" y="2770632"/>
            <a:ext cx="2743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cleaned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45151" y="3072384"/>
            <a:ext cx="294436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Transactions, spend, engagement and tickets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5" y="1828800"/>
            <a:ext cx="3429000" cy="169164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67344" y="2011680"/>
            <a:ext cx="2971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CHURN LABEL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2350008"/>
            <a:ext cx="20116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2,600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2770632"/>
            <a:ext cx="2743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customer labels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3072384"/>
            <a:ext cx="2944368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Outcome: zero purchases in Apr–Jun 2024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286000" y="3584448"/>
            <a:ext cx="0" cy="301752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080760" y="3584448"/>
            <a:ext cx="0" cy="301752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875520" y="3584448"/>
            <a:ext cx="0" cy="301752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286000" y="3886200"/>
            <a:ext cx="7589520" cy="0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080760" y="3886200"/>
            <a:ext cx="0" cy="246887"/>
          </a:xfrm>
          <a:prstGeom prst="line">
            <a:avLst/>
          </a:prstGeom>
          <a:ln w="22860">
            <a:solidFill>
              <a:srgbClr val="29DCC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88920" y="4160520"/>
            <a:ext cx="6583680" cy="1024128"/>
          </a:xfrm>
          <a:prstGeom prst="roundRect">
            <a:avLst>
              <a:gd name="adj" fmla="val 12000"/>
            </a:avLst>
          </a:prstGeom>
          <a:solidFill>
            <a:srgbClr val="0D3442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17520" y="4325112"/>
            <a:ext cx="32918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DCC1"/>
                </a:solidFill>
                <a:latin typeface="Aptos Display"/>
              </a:rPr>
              <a:t>2,227 eligible for modelling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4389120"/>
            <a:ext cx="26974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373 excluded for insufficient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34640" y="5440680"/>
            <a:ext cx="649224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Feature cutoff: 31 Mar 2024     •     Target window: Apr–Jun 2024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03 / DATA 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Clean what is defensible. Preserve what is uncertain.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The workflow documents anomalies rather than silently rewriting customer history.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" y="1993392"/>
            <a:ext cx="2029968" cy="157276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2139696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48716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AUDIT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83464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IDs, duplicates,
repeated months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33472" y="2770632"/>
            <a:ext cx="237744" cy="0"/>
          </a:xfrm>
          <a:prstGeom prst="line">
            <a:avLst/>
          </a:prstGeom>
          <a:ln w="19050">
            <a:solidFill>
              <a:srgbClr val="41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07792" y="1993392"/>
            <a:ext cx="2029968" cy="157276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54096" y="2139696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248716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DEDUPLICATE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54096" y="283464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8 profile • 58 activity
• 5 label duplicates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2770632"/>
            <a:ext cx="237744" cy="0"/>
          </a:xfrm>
          <a:prstGeom prst="line">
            <a:avLst/>
          </a:prstGeom>
          <a:ln w="19050">
            <a:solidFill>
              <a:srgbClr val="41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12080" y="1993392"/>
            <a:ext cx="2029968" cy="157276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58384" y="2139696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48716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STANDARDISE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58384" y="283464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Text casing and
whitespace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42048" y="2770632"/>
            <a:ext cx="237744" cy="0"/>
          </a:xfrm>
          <a:prstGeom prst="line">
            <a:avLst/>
          </a:prstGeom>
          <a:ln w="19050">
            <a:solidFill>
              <a:srgbClr val="41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16368" y="1993392"/>
            <a:ext cx="2029968" cy="157276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62672" y="2139696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62672" y="248716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FLAG &amp;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283464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Negative / zero spend;
outliers retained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46336" y="2770632"/>
            <a:ext cx="237744" cy="0"/>
          </a:xfrm>
          <a:prstGeom prst="line">
            <a:avLst/>
          </a:prstGeom>
          <a:ln w="19050">
            <a:solidFill>
              <a:srgbClr val="41BE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20656" y="1993392"/>
            <a:ext cx="2029968" cy="157276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2139696"/>
            <a:ext cx="411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2487168"/>
            <a:ext cx="16916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66960" y="2834640"/>
            <a:ext cx="17373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Conflicts documented;
labels preserved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3977639"/>
            <a:ext cx="10954512" cy="141732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8" y="4160520"/>
            <a:ext cx="411480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MISSINGNESS HANDLING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" y="4498848"/>
            <a:ext cx="1000000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2F7FC"/>
                </a:solidFill>
                <a:latin typeface="Aptos"/>
              </a:rPr>
              <a:t>260 profile cells imputed within the training pipeline. 120 LAST_PURCHASE_DATE values left missing; field excluded because it can reveal the label.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04 / KEY INSIGHT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Support friction and falling activity are useful warning signals.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Among still-active members in the Phase 18 test cohort, observed churn rises with late-window support tickets.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783080"/>
            <a:ext cx="39319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CHURN RATE BY SUPPORT TICKETS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2267712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0 tickets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965960" y="2286000"/>
            <a:ext cx="4114800" cy="201168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965960" y="2286000"/>
            <a:ext cx="176348" cy="20116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249424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3.0%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2926080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1 ticket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965960" y="2944368"/>
            <a:ext cx="4114800" cy="201168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65960" y="2944368"/>
            <a:ext cx="805325" cy="20116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907792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13.7%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3584448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2 tickets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3602736"/>
            <a:ext cx="4114800" cy="201168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965960" y="3602736"/>
            <a:ext cx="1005186" cy="20116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3566160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17.1%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242816"/>
            <a:ext cx="10972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3+ tickets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65960" y="4261104"/>
            <a:ext cx="4114800" cy="201168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965960" y="4261104"/>
            <a:ext cx="4114800" cy="20116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17920" y="4224528"/>
            <a:ext cx="7315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70.0%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0" y="1828800"/>
            <a:ext cx="4160520" cy="324612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0" y="2103120"/>
            <a:ext cx="310896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WHAT STANDS 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2542032"/>
            <a:ext cx="155448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B74D"/>
                </a:solidFill>
                <a:latin typeface="Aptos Display"/>
              </a:rPr>
              <a:t>70%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6840" y="2615184"/>
            <a:ext cx="19659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churn in the 3+ ticket group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589520" y="3291840"/>
            <a:ext cx="3520440" cy="0"/>
          </a:xfrm>
          <a:prstGeom prst="line">
            <a:avLst/>
          </a:prstGeom>
          <a:ln w="1270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589520" y="3493008"/>
            <a:ext cx="333756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Only 10 test-cohort members were in this group.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89520" y="4133087"/>
            <a:ext cx="3383280" cy="6217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Association, not causation: ticket count may reflect unresolved service issues or other customer differences.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5358384"/>
            <a:ext cx="106984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Additional evidence: demographic-only features delivered PR-AUC 0.109 on the primary cohort test; behaviour-only reached 0.651.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05 / FEATURE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Predictors stop at 31 March 2024—by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A leakage-aware feature window was defined before model fitting.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60120" y="2423160"/>
            <a:ext cx="10104120" cy="0"/>
          </a:xfrm>
          <a:prstGeom prst="line">
            <a:avLst/>
          </a:prstGeom>
          <a:ln w="3810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1051560" y="2276856"/>
            <a:ext cx="292608" cy="292608"/>
          </a:xfrm>
          <a:prstGeom prst="ellipse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657600" y="2276856"/>
            <a:ext cx="292608" cy="292608"/>
          </a:xfrm>
          <a:prstGeom prst="ellipse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92240" y="2276856"/>
            <a:ext cx="292608" cy="292608"/>
          </a:xfrm>
          <a:prstGeom prst="ellipse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012680" y="2276856"/>
            <a:ext cx="292608" cy="292608"/>
          </a:xfrm>
          <a:prstGeom prst="ellipse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874519"/>
            <a:ext cx="9144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6B7CA"/>
                </a:solidFill>
                <a:latin typeface="Aptos"/>
              </a:rPr>
              <a:t>JAN 2023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63240" y="1874519"/>
            <a:ext cx="21945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BEHAVIOUR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80" y="1874519"/>
            <a:ext cx="13716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31 MAR 2024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874519"/>
            <a:ext cx="1828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APR–JUN 2024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2743200"/>
            <a:ext cx="704088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Transactions • spend • email opens • support tickets • trends • tenure • recency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49640" y="2816352"/>
            <a:ext cx="2606040" cy="804672"/>
          </a:xfrm>
          <a:prstGeom prst="roundRect">
            <a:avLst>
              <a:gd name="adj" fmla="val 12000"/>
            </a:avLst>
          </a:prstGeom>
          <a:solidFill>
            <a:srgbClr val="382A1B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732520" y="2944368"/>
            <a:ext cx="224028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74D"/>
                </a:solidFill>
                <a:latin typeface="Aptos"/>
              </a:rPr>
              <a:t>TARGET WINDOW
Excluded from predictors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4160520"/>
            <a:ext cx="3401568" cy="105156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297680"/>
            <a:ext cx="297180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BEHAVIOUR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" y="4590288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2F7FC"/>
                </a:solidFill>
                <a:latin typeface="Aptos"/>
              </a:rPr>
              <a:t>Transaction/spend summaries
Early vs late activity, trends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4160520"/>
            <a:ext cx="3401568" cy="105156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72584" y="4297680"/>
            <a:ext cx="297180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ENGAGEMENT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72584" y="4590288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2F7FC"/>
                </a:solidFill>
                <a:latin typeface="Aptos"/>
              </a:rPr>
              <a:t>Email opens and observed months
Support-ticket totals / trend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02752" y="4160520"/>
            <a:ext cx="3401568" cy="105156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67344" y="4297680"/>
            <a:ext cx="297180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PROFILE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67344" y="4590288"/>
            <a:ext cx="297180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2F7FC"/>
                </a:solidFill>
                <a:latin typeface="Aptos"/>
              </a:rPr>
              <a:t>Tier, city, age and tenure
Limited standalone signal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06 / MODEL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Gradient Boosting won validation—but the test is the real stress test.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Model and threshold were selected on the middle signup cohorts, then evaluated once on later cohorts.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82880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93392"/>
            <a:ext cx="265176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TRAIN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" y="228600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"/>
              </a:rPr>
              <a:t>2021Q1–2022Q4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63347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1,384 members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898648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35.3% churn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087368" y="2514600"/>
            <a:ext cx="301752" cy="0"/>
          </a:xfrm>
          <a:prstGeom prst="line">
            <a:avLst/>
          </a:prstGeom>
          <a:ln w="1778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453128" y="182880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54296" y="1993392"/>
            <a:ext cx="265176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VALIDATE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228600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"/>
              </a:rPr>
              <a:t>2023Q1–Q2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54296" y="263347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358 members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4296" y="2898648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Threshold tuned here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882128" y="2514600"/>
            <a:ext cx="301751" cy="0"/>
          </a:xfrm>
          <a:prstGeom prst="line">
            <a:avLst/>
          </a:prstGeom>
          <a:ln w="1778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247888" y="1828800"/>
            <a:ext cx="3429000" cy="13716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49056" y="1993392"/>
            <a:ext cx="2651760" cy="2103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TEST • ONCE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49056" y="2286000"/>
            <a:ext cx="292608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"/>
              </a:rPr>
              <a:t>2023Q3–2024Q1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6" y="2633472"/>
            <a:ext cx="28346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485 members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49056" y="2898648"/>
            <a:ext cx="2926080" cy="1828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55 churners • 11.3%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370332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" y="3913632"/>
            <a:ext cx="18288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CANDIDATES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4279392"/>
            <a:ext cx="4663440" cy="56692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2F7FC"/>
                </a:solidFill>
                <a:latin typeface="Aptos"/>
              </a:rPr>
              <a:t>Majority baseline  •  recency rule  •  Logistic Regression
Random Forest  •  Gradient Boosting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03320"/>
            <a:ext cx="5257800" cy="1691640"/>
          </a:xfrm>
          <a:prstGeom prst="roundRect">
            <a:avLst>
              <a:gd name="adj" fmla="val 12000"/>
            </a:avLst>
          </a:prstGeom>
          <a:solidFill>
            <a:srgbClr val="0D3442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19088" y="3913632"/>
            <a:ext cx="182880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SELECTED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19088" y="4224528"/>
            <a:ext cx="329184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2F7FC"/>
                </a:solidFill>
                <a:latin typeface="Aptos Display"/>
              </a:rPr>
              <a:t>Gradient Boosting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19088" y="4736592"/>
            <a:ext cx="448056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Best validation PR-AUC: 0.976   •   Threshold: 0.4240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07 / PRIMARY TEST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On newer signup cohorts, the model finds 38 of 55 churners.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Phase 18 held-out test • 485 members • threshold 0.4240 selected on validation only.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178308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783080"/>
            <a:ext cx="50292" cy="1143000"/>
          </a:xfrm>
          <a:prstGeom prst="rect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901952"/>
            <a:ext cx="17465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1BEFF"/>
                </a:solidFill>
                <a:latin typeface="Aptos Display"/>
              </a:rPr>
              <a:t>0.862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2368296"/>
            <a:ext cx="17465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ROC-AUC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59" y="2569464"/>
            <a:ext cx="17465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95% CI 0.800–0.914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834640" y="178308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834640" y="1783080"/>
            <a:ext cx="50292" cy="1143000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901952"/>
            <a:ext cx="17465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29DCC1"/>
                </a:solidFill>
                <a:latin typeface="Aptos Display"/>
              </a:rPr>
              <a:t>0.654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2368296"/>
            <a:ext cx="17465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PR-AUC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569464"/>
            <a:ext cx="17465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95% CI 0.530–0.765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178308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783080"/>
            <a:ext cx="50292" cy="1143000"/>
          </a:xfrm>
          <a:prstGeom prst="rect">
            <a:avLst/>
          </a:prstGeom>
          <a:solidFill>
            <a:srgbClr val="69E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12080" y="1901952"/>
            <a:ext cx="17465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69E1A8"/>
                </a:solidFill>
                <a:latin typeface="Aptos Display"/>
              </a:rPr>
              <a:t>69.1%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80" y="2368296"/>
            <a:ext cx="17465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Recall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12080" y="2569464"/>
            <a:ext cx="17465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38 / 55 churners found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178308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23760" y="1783080"/>
            <a:ext cx="50292" cy="1143000"/>
          </a:xfrm>
          <a:prstGeom prst="rect">
            <a:avLst/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1901952"/>
            <a:ext cx="17465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FFB74D"/>
                </a:solidFill>
                <a:latin typeface="Aptos Display"/>
              </a:rPr>
              <a:t>40.4%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2368296"/>
            <a:ext cx="17465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Precision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2569464"/>
            <a:ext cx="17465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38 / 94 flagged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418320" y="1783080"/>
            <a:ext cx="2057400" cy="11430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18320" y="1783080"/>
            <a:ext cx="50292" cy="1143000"/>
          </a:xfrm>
          <a:prstGeom prst="rect">
            <a:avLst/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0" y="1901952"/>
            <a:ext cx="1746504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41BEFF"/>
                </a:solidFill>
                <a:latin typeface="Aptos Display"/>
              </a:rPr>
              <a:t>0.510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2368296"/>
            <a:ext cx="1746504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F1-score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0" y="2569464"/>
            <a:ext cx="1746504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 i="0">
                <a:solidFill>
                  <a:srgbClr val="A6B7CA"/>
                </a:solidFill>
                <a:latin typeface="Aptos"/>
              </a:rPr>
              <a:t>95% CI 0.409–0.599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" y="3337560"/>
            <a:ext cx="41148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CONFUSION MATRIX  •  TEST COHORT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3232" y="3749039"/>
            <a:ext cx="1993392" cy="603504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3803903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DCC1"/>
                </a:solidFill>
                <a:latin typeface="Aptos Display"/>
              </a:rPr>
              <a:t>374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44752" y="3840479"/>
            <a:ext cx="111556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2F7FC"/>
                </a:solidFill>
                <a:latin typeface="Aptos"/>
              </a:rPr>
              <a:t>TRUE NEGATIVE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53512" y="3749039"/>
            <a:ext cx="1993392" cy="603504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063240" y="3803903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74D"/>
                </a:solidFill>
                <a:latin typeface="Aptos Display"/>
              </a:rPr>
              <a:t>56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85032" y="3840479"/>
            <a:ext cx="111556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2F7FC"/>
                </a:solidFill>
                <a:latin typeface="Aptos"/>
              </a:rPr>
              <a:t>FALSE POSITIVE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3232" y="4526279"/>
            <a:ext cx="1993392" cy="603504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581143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6E78"/>
                </a:solidFill>
                <a:latin typeface="Aptos Display"/>
              </a:rPr>
              <a:t>17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444752" y="4617719"/>
            <a:ext cx="111556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2F7FC"/>
                </a:solidFill>
                <a:latin typeface="Aptos"/>
              </a:rPr>
              <a:t>FALSE NEGATIVE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53512" y="4526279"/>
            <a:ext cx="1993392" cy="603504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63240" y="4581143"/>
            <a:ext cx="566928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69E1A8"/>
                </a:solidFill>
                <a:latin typeface="Aptos Display"/>
              </a:rPr>
              <a:t>38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85032" y="4617719"/>
            <a:ext cx="1115568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2F7FC"/>
                </a:solidFill>
                <a:latin typeface="Aptos"/>
              </a:rPr>
              <a:t>TRUE POSITIVE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532120" y="3310128"/>
            <a:ext cx="5852160" cy="214884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806440" y="3547872"/>
            <a:ext cx="274320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HOW TO READ THIS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06440" y="3886200"/>
            <a:ext cx="507492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2F7FC"/>
                </a:solidFill>
                <a:latin typeface="Aptos Display"/>
              </a:rPr>
              <a:t>The model captures most observed churners, but many flagged members do not churn.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06440" y="4590288"/>
            <a:ext cx="50749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6B7CA"/>
                </a:solidFill>
                <a:latin typeface="Aptos"/>
              </a:rPr>
              <a:t>PR-AUC is 5.8× the 0.113 no-skill baseline. Precision is modest; use scores to rank outreach, not to automate decisions.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08 / MODEL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The cohort split narrows the gap between models—and exposes the easy split.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PR-AUC on the same Phase 18 test cohort; higher is better under class imbalance.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874519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Gradient Boosting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01951"/>
            <a:ext cx="5897880" cy="219456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88920" y="1901951"/>
            <a:ext cx="5510305" cy="219456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0" y="1865376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9DCC1"/>
                </a:solidFill>
                <a:latin typeface="Aptos"/>
              </a:rPr>
              <a:t>0.654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2532887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Random Forest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88920" y="2560319"/>
            <a:ext cx="5897880" cy="219456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788920" y="2560319"/>
            <a:ext cx="5308092" cy="219456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69680" y="2523744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41BEFF"/>
                </a:solidFill>
                <a:latin typeface="Aptos"/>
              </a:rPr>
              <a:t>0.633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3191256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Logistic Regression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788920" y="3218687"/>
            <a:ext cx="5897880" cy="219456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788920" y="3218687"/>
            <a:ext cx="3917877" cy="219456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0" y="3182112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B74D"/>
                </a:solidFill>
                <a:latin typeface="Aptos"/>
              </a:rPr>
              <a:t>0.465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849624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Simple recency rule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88920" y="3877056"/>
            <a:ext cx="5897880" cy="219456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788920" y="3877056"/>
            <a:ext cx="3024769" cy="219456"/>
          </a:xfrm>
          <a:prstGeom prst="roundRect">
            <a:avLst>
              <a:gd name="adj" fmla="val 12000"/>
            </a:avLst>
          </a:prstGeom>
          <a:solidFill>
            <a:srgbClr val="FF6E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0" y="3840480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6E78"/>
                </a:solidFill>
                <a:latin typeface="Aptos"/>
              </a:rPr>
              <a:t>0.359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8" y="4507992"/>
            <a:ext cx="210312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No-skill baseline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88920" y="4535424"/>
            <a:ext cx="5897880" cy="219456"/>
          </a:xfrm>
          <a:prstGeom prst="roundRect">
            <a:avLst>
              <a:gd name="adj" fmla="val 12000"/>
            </a:avLst>
          </a:prstGeom>
          <a:solidFill>
            <a:srgbClr val="1A2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788920" y="4535424"/>
            <a:ext cx="952086" cy="219456"/>
          </a:xfrm>
          <a:prstGeom prst="roundRect">
            <a:avLst>
              <a:gd name="adj" fmla="val 12000"/>
            </a:avLst>
          </a:prstGeom>
          <a:solidFill>
            <a:srgbClr val="698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0" y="4498848"/>
            <a:ext cx="7315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9819A"/>
                </a:solidFill>
                <a:latin typeface="Aptos"/>
              </a:rPr>
              <a:t>0.113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46920" y="1901952"/>
            <a:ext cx="1874519" cy="210312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57232" y="2148840"/>
            <a:ext cx="141732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SECONDARY
RANDOM SPLIT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57232" y="2743200"/>
            <a:ext cx="14173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0.938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7232" y="3273552"/>
            <a:ext cx="14173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PR-AUC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02368" y="4315968"/>
            <a:ext cx="1645920" cy="1051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Not comparable as primary evidence: the random split mixes signup cohorts and can overstate generalisation.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8096" y="5577840"/>
            <a:ext cx="106070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9DCC1"/>
                </a:solidFill>
                <a:latin typeface="Aptos"/>
              </a:rPr>
              <a:t>Takeaway: use the cohort-based test for decision-making; newer members have shorter histories and much lower churn.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09 / EXPLAINABLE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Behaviour carries the signal; profile attributes add little on their own.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Top drivers of churn risk, ranked by mean |SHAP| contribution.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1810512"/>
            <a:ext cx="6537960" cy="5669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1920240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1883664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Months since last observed activity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883664"/>
            <a:ext cx="24871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A6B7CA"/>
                </a:solidFill>
                <a:latin typeface="Aptos"/>
              </a:rPr>
              <a:t>Largest mean |SHAP| contributor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2514600"/>
            <a:ext cx="6537960" cy="5669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2624328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89888" y="2587752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Late-period transactions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2587752"/>
            <a:ext cx="24871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A6B7CA"/>
                </a:solidFill>
                <a:latin typeface="Aptos"/>
              </a:rPr>
              <a:t>Recent decline / reduced purchase frequency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218688"/>
            <a:ext cx="6537960" cy="5669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7824" y="3328416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9E1A8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3291840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Observed feature months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3291840"/>
            <a:ext cx="24871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A6B7CA"/>
                </a:solidFill>
                <a:latin typeface="Aptos"/>
              </a:rPr>
              <a:t>Length and completeness of activity 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922776"/>
            <a:ext cx="6537960" cy="5669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032504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3995928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Email opens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995928"/>
            <a:ext cx="24871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A6B7CA"/>
                </a:solidFill>
                <a:latin typeface="Aptos"/>
              </a:rPr>
              <a:t>Engagement signal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626864"/>
            <a:ext cx="6537960" cy="5669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" y="4736592"/>
            <a:ext cx="384048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6E78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9888" y="4700016"/>
            <a:ext cx="306324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Support-ticket features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34840" y="4700016"/>
            <a:ext cx="2487168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A6B7CA"/>
                </a:solidFill>
                <a:latin typeface="Aptos"/>
              </a:rPr>
              <a:t>Customer-service friction signal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35240" y="1828800"/>
            <a:ext cx="3749039" cy="3429000"/>
          </a:xfrm>
          <a:prstGeom prst="roundRect">
            <a:avLst>
              <a:gd name="adj" fmla="val 12000"/>
            </a:avLst>
          </a:prstGeom>
          <a:solidFill>
            <a:srgbClr val="0D3442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9560" y="2103120"/>
            <a:ext cx="24688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ABLATION 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09560" y="2514600"/>
            <a:ext cx="13258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29DCC1"/>
                </a:solidFill>
                <a:latin typeface="Aptos Display"/>
              </a:rPr>
              <a:t>0.651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551176"/>
            <a:ext cx="1691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Behaviour-only
PR-AUC (cohort test)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909560" y="3291840"/>
            <a:ext cx="3172968" cy="0"/>
          </a:xfrm>
          <a:prstGeom prst="line">
            <a:avLst/>
          </a:prstGeom>
          <a:ln w="1270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909560" y="3520440"/>
            <a:ext cx="13258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B74D"/>
                </a:solidFill>
                <a:latin typeface="Aptos Display"/>
              </a:rPr>
              <a:t>0.109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81160" y="3566160"/>
            <a:ext cx="169164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Demographics-only
PR-AUC (cohort test)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10 / COHORT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The test is harder because the newest members behave differently.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Signup-quarter split tests generalisation across cohorts.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874519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084831"/>
            <a:ext cx="132588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 Display"/>
              </a:rPr>
              <a:t>2021Q1–
2022Q4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112264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1BEFF"/>
                </a:solidFill>
                <a:latin typeface="Aptos"/>
              </a:rPr>
              <a:t>TRAIN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2907792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41BEFF"/>
                </a:solidFill>
                <a:latin typeface="Aptos Display"/>
              </a:rPr>
              <a:t>1,384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94436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members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87752" y="2926080"/>
            <a:ext cx="11704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35.3% churn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069080" y="2788920"/>
            <a:ext cx="320040" cy="0"/>
          </a:xfrm>
          <a:prstGeom prst="line">
            <a:avLst/>
          </a:prstGeom>
          <a:ln w="1905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4480560" y="1874519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81728" y="2084831"/>
            <a:ext cx="132588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 Display"/>
              </a:rPr>
              <a:t>2023Q1–
2023Q2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2112264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DCC1"/>
                </a:solidFill>
                <a:latin typeface="Aptos"/>
              </a:rPr>
              <a:t>VALIDATE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2907792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29DCC1"/>
                </a:solidFill>
                <a:latin typeface="Aptos Display"/>
              </a:rPr>
              <a:t>358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294436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members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82512" y="2926080"/>
            <a:ext cx="11704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33.0% churn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863840" y="2788920"/>
            <a:ext cx="320039" cy="0"/>
          </a:xfrm>
          <a:prstGeom prst="line">
            <a:avLst/>
          </a:prstGeom>
          <a:ln w="1905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275320" y="1874519"/>
            <a:ext cx="3383280" cy="1874519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76488" y="2084831"/>
            <a:ext cx="132588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2F7FC"/>
                </a:solidFill>
                <a:latin typeface="Aptos Display"/>
              </a:rPr>
              <a:t>2023Q3–
2024Q1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2112264"/>
            <a:ext cx="1417320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B74D"/>
                </a:solidFill>
                <a:latin typeface="Aptos"/>
              </a:rPr>
              <a:t>HELD-OUT 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6488" y="2907792"/>
            <a:ext cx="9144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B74D"/>
                </a:solidFill>
                <a:latin typeface="Aptos Display"/>
              </a:rPr>
              <a:t>485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944368"/>
            <a:ext cx="77724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members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77272" y="2926080"/>
            <a:ext cx="1170432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11.3% churn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187952"/>
            <a:ext cx="10835640" cy="123444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4370832"/>
            <a:ext cx="292608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BOOTSTRAP UNCERTAINTY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4727448"/>
            <a:ext cx="9500000" cy="3200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2F7FC"/>
                </a:solidFill>
                <a:latin typeface="Aptos"/>
              </a:rPr>
              <a:t>1,000 resamples • PR-AUC 95% CI: 0.530–0.765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11 / RETENTION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A narrow, reachable group concentrates risk—but reaches only one-third of churners.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Phase 19 comparison on the 485-member cohort test; observed outcomes describe group composition, not campaign impact.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55648"/>
            <a:ext cx="32461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DCC1"/>
                </a:solidFill>
                <a:latin typeface="Aptos"/>
              </a:rPr>
              <a:t>STRATEGY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1755648"/>
            <a:ext cx="10972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DCC1"/>
                </a:solidFill>
                <a:latin typeface="Aptos"/>
              </a:rPr>
              <a:t>CONTACTS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85232" y="1755648"/>
            <a:ext cx="13716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DCC1"/>
                </a:solidFill>
                <a:latin typeface="Aptos"/>
              </a:rPr>
              <a:t>GROUP CHURN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84848" y="1755648"/>
            <a:ext cx="192024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9DCC1"/>
                </a:solidFill>
                <a:latin typeface="Aptos"/>
              </a:rPr>
              <a:t>CHURNERS REACHED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8368" y="2084831"/>
            <a:ext cx="10863072" cy="438912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2130551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Blanket — everyone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130551"/>
            <a:ext cx="777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819A"/>
                </a:solidFill>
                <a:latin typeface="Aptos"/>
              </a:rPr>
              <a:t>485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130551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819A"/>
                </a:solidFill>
                <a:latin typeface="Aptos"/>
              </a:rPr>
              <a:t>11.3%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0" y="2221991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1D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58000" y="2221991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6981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25712" y="2121408"/>
            <a:ext cx="685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100%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615184"/>
            <a:ext cx="10863072" cy="438912"/>
          </a:xfrm>
          <a:prstGeom prst="roundRect">
            <a:avLst>
              <a:gd name="adj" fmla="val 12000"/>
            </a:avLst>
          </a:prstGeom>
          <a:solidFill>
            <a:srgbClr val="0B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660903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Model top 20% — 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2660903"/>
            <a:ext cx="777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BEFF"/>
                </a:solidFill>
                <a:latin typeface="Aptos"/>
              </a:rPr>
              <a:t>97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49240" y="2660903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BEFF"/>
                </a:solidFill>
                <a:latin typeface="Aptos"/>
              </a:rPr>
              <a:t>39.2%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0" y="2752344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1D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858000" y="2752344"/>
            <a:ext cx="1482699" cy="128016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25712" y="2651760"/>
            <a:ext cx="685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69%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3145535"/>
            <a:ext cx="10863072" cy="438912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191255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Model top 20% — reachable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3191255"/>
            <a:ext cx="777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BEFF"/>
                </a:solidFill>
                <a:latin typeface="Aptos"/>
              </a:rPr>
              <a:t>97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49240" y="3191255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41BEFF"/>
                </a:solidFill>
                <a:latin typeface="Aptos"/>
              </a:rPr>
              <a:t>22.7%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282695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1D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58000" y="3282695"/>
            <a:ext cx="859536" cy="128016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25712" y="3182111"/>
            <a:ext cx="685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40%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" y="3675887"/>
            <a:ext cx="10863072" cy="438912"/>
          </a:xfrm>
          <a:prstGeom prst="roundRect">
            <a:avLst>
              <a:gd name="adj" fmla="val 12000"/>
            </a:avLst>
          </a:prstGeom>
          <a:solidFill>
            <a:srgbClr val="0B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" y="3721607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Proactive support outreach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3721607"/>
            <a:ext cx="777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168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49240" y="3721607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9DCC1"/>
                </a:solidFill>
                <a:latin typeface="Aptos"/>
              </a:rPr>
              <a:t>17.9%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3813048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1D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858000" y="3813048"/>
            <a:ext cx="1181862" cy="128016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3712463"/>
            <a:ext cx="685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55%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8368" y="4206240"/>
            <a:ext cx="10863072" cy="438912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2960" y="4251959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F2F7FC"/>
                </a:solidFill>
                <a:latin typeface="Aptos"/>
              </a:rPr>
              <a:t>Targeted coupon — reachable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4251959"/>
            <a:ext cx="777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74D"/>
                </a:solidFill>
                <a:latin typeface="Aptos"/>
              </a:rPr>
              <a:t>78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49240" y="4251959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B74D"/>
                </a:solidFill>
                <a:latin typeface="Aptos"/>
              </a:rPr>
              <a:t>28.2%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4343400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1D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58000" y="4343400"/>
            <a:ext cx="859536" cy="128016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25712" y="4242816"/>
            <a:ext cx="685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40%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58368" y="4736592"/>
            <a:ext cx="10863072" cy="438912"/>
          </a:xfrm>
          <a:prstGeom prst="roundRect">
            <a:avLst>
              <a:gd name="adj" fmla="val 12000"/>
            </a:avLst>
          </a:prstGeom>
          <a:solidFill>
            <a:srgbClr val="0B18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60" y="4782312"/>
            <a:ext cx="3090672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Support + model flag (reachable)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114800" y="4782312"/>
            <a:ext cx="7772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E1A8"/>
                </a:solidFill>
                <a:latin typeface="Aptos"/>
              </a:rPr>
              <a:t>49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49240" y="4782312"/>
            <a:ext cx="100584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9E1A8"/>
                </a:solidFill>
                <a:latin typeface="Aptos"/>
              </a:rPr>
              <a:t>36.7%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858000" y="4873752"/>
            <a:ext cx="2148840" cy="128016"/>
          </a:xfrm>
          <a:prstGeom prst="roundRect">
            <a:avLst>
              <a:gd name="adj" fmla="val 12000"/>
            </a:avLst>
          </a:prstGeom>
          <a:solidFill>
            <a:srgbClr val="1D2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858000" y="4873752"/>
            <a:ext cx="709117" cy="128016"/>
          </a:xfrm>
          <a:prstGeom prst="roundRect">
            <a:avLst>
              <a:gd name="adj" fmla="val 12000"/>
            </a:avLst>
          </a:prstGeom>
          <a:solidFill>
            <a:srgbClr val="69E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125712" y="4773168"/>
            <a:ext cx="685800" cy="31089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2F7FC"/>
                </a:solidFill>
                <a:latin typeface="Aptos"/>
              </a:rPr>
              <a:t>33%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29800" y="4773168"/>
            <a:ext cx="1463040" cy="32918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9E1A8"/>
                </a:solidFill>
                <a:latin typeface="Aptos"/>
              </a:rPr>
              <a:t>49 members • 37% churn • 33% of all churners reached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9808" y="5715000"/>
            <a:ext cx="10698480" cy="2926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FB74D"/>
                </a:solidFill>
                <a:latin typeface="Aptos"/>
              </a:rPr>
              <a:t>“Model top 20% — any” includes 16 already-lapsed members; treat that as win-back, not prevention.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12 / COST &amp; IMPACT SCENARIOS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At assumed 20% effectiveness, targeting is more cost-resilient than blanket offers.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Net value is expressed in units of one retained member.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1773936"/>
            <a:ext cx="384048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NET VALUE AT 20% EFFECTIVENESS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26400" y="2084831"/>
            <a:ext cx="0" cy="3310129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743200" y="546811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A"/>
                </a:solidFill>
                <a:latin typeface="Aptos"/>
              </a:rPr>
              <a:t>−40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34960" y="5468112"/>
            <a:ext cx="2743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A"/>
                </a:solidFill>
                <a:latin typeface="Aptos"/>
              </a:rPr>
              <a:t>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5468112"/>
            <a:ext cx="45720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A6B7CA"/>
                </a:solidFill>
                <a:latin typeface="Aptos"/>
              </a:rPr>
              <a:t>+5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31343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Blanket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6400" y="2240280"/>
            <a:ext cx="171703" cy="10972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43823" y="2194560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9DCC1"/>
                </a:solidFill>
                <a:latin typeface="Aptos"/>
              </a:rPr>
              <a:t>1.3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2944" y="2404872"/>
            <a:ext cx="1743456" cy="109728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8664" y="2359152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1BEFF"/>
                </a:solidFill>
                <a:latin typeface="Aptos"/>
              </a:rPr>
              <a:t>-13.2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73400" y="2569464"/>
            <a:ext cx="4953000" cy="10972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19120" y="2523744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B74D"/>
                </a:solidFill>
                <a:latin typeface="Aptos"/>
              </a:rPr>
              <a:t>-37.5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304495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Support outreach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26400" y="2971800"/>
            <a:ext cx="343407" cy="10972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5528" y="2926080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9DCC1"/>
                </a:solidFill>
                <a:latin typeface="Aptos"/>
              </a:rPr>
              <a:t>2.6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09408" y="3136392"/>
            <a:ext cx="316992" cy="109728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5128" y="3090672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1BEFF"/>
                </a:solidFill>
                <a:latin typeface="Aptos"/>
              </a:rPr>
              <a:t>-2.4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99935" y="3300984"/>
            <a:ext cx="1426464" cy="10972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5655" y="3255264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B74D"/>
                </a:solidFill>
                <a:latin typeface="Aptos"/>
              </a:rPr>
              <a:t>-10.8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8" y="377647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Targeted coupon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26400" y="3703320"/>
            <a:ext cx="369823" cy="10972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1944" y="3657600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9DCC1"/>
                </a:solidFill>
                <a:latin typeface="Aptos"/>
              </a:rPr>
              <a:t>2.8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6400" y="3867912"/>
            <a:ext cx="66040" cy="109728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3822192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1BEFF"/>
                </a:solidFill>
                <a:latin typeface="Aptos"/>
              </a:rPr>
              <a:t>0.5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577328" y="4032504"/>
            <a:ext cx="449072" cy="10972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23048" y="3986784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B74D"/>
                </a:solidFill>
                <a:latin typeface="Aptos"/>
              </a:rPr>
              <a:t>-3.4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507992"/>
            <a:ext cx="182880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Support + model flag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26400" y="4434840"/>
            <a:ext cx="343407" cy="109728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5528" y="4389120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29DCC1"/>
                </a:solidFill>
                <a:latin typeface="Aptos"/>
              </a:rPr>
              <a:t>2.6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26400" y="4599432"/>
            <a:ext cx="145287" cy="109728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7408" y="4553712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41BEFF"/>
                </a:solidFill>
                <a:latin typeface="Aptos"/>
              </a:rPr>
              <a:t>1.1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854696" y="4764024"/>
            <a:ext cx="171704" cy="109728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0416" y="4718304"/>
            <a:ext cx="59436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FB74D"/>
                </a:solidFill>
                <a:latin typeface="Aptos"/>
              </a:rPr>
              <a:t>-1.3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20" y="2057400"/>
            <a:ext cx="2267712" cy="3200400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18320" y="2313432"/>
            <a:ext cx="164592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CONTACT COST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418320" y="2724912"/>
            <a:ext cx="164592" cy="13716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74352" y="2670048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2F7FC"/>
                </a:solidFill>
                <a:latin typeface="Aptos"/>
              </a:rPr>
              <a:t>2% of retained value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418320" y="3136392"/>
            <a:ext cx="164592" cy="13716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74352" y="3081528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2F7FC"/>
                </a:solidFill>
                <a:latin typeface="Aptos"/>
              </a:rPr>
              <a:t>5% of retained value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418320" y="3547872"/>
            <a:ext cx="164592" cy="137160"/>
          </a:xfrm>
          <a:prstGeom prst="roundRect">
            <a:avLst>
              <a:gd name="adj" fmla="val 12000"/>
            </a:avLst>
          </a:prstGeom>
          <a:solidFill>
            <a:srgbClr val="FF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674352" y="3493008"/>
            <a:ext cx="1463040" cy="2468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0" i="0">
                <a:solidFill>
                  <a:srgbClr val="F2F7FC"/>
                </a:solidFill>
                <a:latin typeface="Aptos"/>
              </a:rPr>
              <a:t>10% of retained value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9418320" y="4041648"/>
            <a:ext cx="1737360" cy="0"/>
          </a:xfrm>
          <a:prstGeom prst="line">
            <a:avLst/>
          </a:prstGeom>
          <a:ln w="1270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9418320" y="4206240"/>
            <a:ext cx="169164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F2F7FC"/>
                </a:solidFill>
                <a:latin typeface="Aptos"/>
              </a:rPr>
              <a:t>At 20% assumed effectiveness: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418320" y="4590288"/>
            <a:ext cx="169164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A"/>
                </a:solidFill>
                <a:latin typeface="Aptos"/>
              </a:rPr>
              <a:t>• Blanket: ~11 saved
• Focused group: ~3.6 saved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310896"/>
            <a:ext cx="10424160" cy="2286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13 / OPERATING CONCEPT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40080"/>
            <a:ext cx="109728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2F7FC"/>
                </a:solidFill>
                <a:latin typeface="Aptos Display"/>
              </a:rPr>
              <a:t>Use the score as one signal in a human-reviewed retention workflow.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207008"/>
            <a:ext cx="1097280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6B7CA"/>
                </a:solidFill>
                <a:latin typeface="Aptos"/>
              </a:rPr>
              <a:t>Recommended human-reviewed retention workflow.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project README; Final Report (Phases 18–19)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1920240"/>
            <a:ext cx="1993392" cy="14813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8" y="2057400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" y="2386584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743200"/>
            <a:ext cx="16642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Refresh features
through cutoff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651760" y="2651760"/>
            <a:ext cx="237744" cy="0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2944368" y="1920240"/>
            <a:ext cx="1993392" cy="14813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1527" y="2057400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81527" y="2386584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EXPLAIN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81527" y="2743200"/>
            <a:ext cx="16642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Review top drivers
and confidence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37760" y="2651760"/>
            <a:ext cx="237744" cy="0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30368" y="1920240"/>
            <a:ext cx="1993392" cy="14813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69E1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67528" y="2057400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9E1A8"/>
                </a:solidFill>
                <a:latin typeface="Apto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2386584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CHECK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67528" y="2743200"/>
            <a:ext cx="16642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Still active or
already lapsed?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223760" y="2651760"/>
            <a:ext cx="237744" cy="0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516368" y="1920240"/>
            <a:ext cx="1993392" cy="14813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53528" y="2057400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53528" y="2386584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ADD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53528" y="2743200"/>
            <a:ext cx="16642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Support tickets,
engagement trend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509760" y="2651760"/>
            <a:ext cx="237744" cy="0"/>
          </a:xfrm>
          <a:prstGeom prst="line">
            <a:avLst/>
          </a:prstGeom>
          <a:ln w="16510">
            <a:solidFill>
              <a:srgbClr val="6981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9802368" y="1920240"/>
            <a:ext cx="1993392" cy="1481328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41B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39528" y="2057400"/>
            <a:ext cx="41148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2386584"/>
            <a:ext cx="1664208" cy="2560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2F7FC"/>
                </a:solidFill>
                <a:latin typeface="Aptos"/>
              </a:rPr>
              <a:t>ROUTE ACTION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9528" y="2743200"/>
            <a:ext cx="1664208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Prevention outreach
or win-back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3886200"/>
            <a:ext cx="5285232" cy="1554480"/>
          </a:xfrm>
          <a:prstGeom prst="roundRect">
            <a:avLst>
              <a:gd name="adj" fmla="val 12000"/>
            </a:avLst>
          </a:prstGeom>
          <a:solidFill>
            <a:srgbClr val="0D3442"/>
          </a:solidFill>
          <a:ln w="12700">
            <a:solidFill>
              <a:srgbClr val="29D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96112" y="4096512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PREVENTION QUEUE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6112" y="4453128"/>
            <a:ext cx="461772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Still active + ≥1 late-window ticket + model flag
Pilot group in this test: 49 members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99632" y="3886200"/>
            <a:ext cx="5285232" cy="1554480"/>
          </a:xfrm>
          <a:prstGeom prst="roundRect">
            <a:avLst>
              <a:gd name="adj" fmla="val 12000"/>
            </a:avLst>
          </a:prstGeom>
          <a:solidFill>
            <a:srgbClr val="32261C"/>
          </a:solidFill>
          <a:ln w="12700">
            <a:solidFill>
              <a:srgbClr val="FF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37376" y="4096512"/>
            <a:ext cx="2377440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WIN-BACK QUEUE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7376" y="4453128"/>
            <a:ext cx="4617720" cy="53035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2F7FC"/>
                </a:solidFill>
                <a:latin typeface="Aptos"/>
              </a:rPr>
              <a:t>Already lapsed members need a separate offer—not a prevention campaign.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11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1658600" y="201168"/>
            <a:ext cx="182880" cy="182880"/>
          </a:xfrm>
          <a:prstGeom prst="roundRect">
            <a:avLst>
              <a:gd name="adj" fmla="val 12000"/>
            </a:avLst>
          </a:prstGeom>
          <a:solidFill>
            <a:srgbClr val="41B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0" y="201168"/>
            <a:ext cx="91440" cy="91440"/>
          </a:xfrm>
          <a:prstGeom prst="roundRect">
            <a:avLst>
              <a:gd name="adj" fmla="val 12000"/>
            </a:avLst>
          </a:prstGeom>
          <a:solidFill>
            <a:srgbClr val="29DC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566928"/>
            <a:ext cx="2011680" cy="2377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1097280"/>
            <a:ext cx="996696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2F7FC"/>
                </a:solidFill>
                <a:latin typeface="Aptos Display"/>
              </a:rPr>
              <a:t>A useful risk-ranking prototype.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" y="2761488"/>
            <a:ext cx="886968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A6B7CA"/>
                </a:solidFill>
                <a:latin typeface="Aptos"/>
              </a:rPr>
              <a:t>The evidence points to behaviour-led prioritisation, transparent review, and targeted experimentation.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" y="3794760"/>
            <a:ext cx="3401568" cy="1170432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3968496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5024" y="393192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TRUST THE HARDER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437083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Cohort PR-AUC 0.654; ROC-AUC 0.862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62272" y="3794760"/>
            <a:ext cx="3401568" cy="1170432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3968496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1BEFF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02352" y="393192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TARGET WITH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2" y="437083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Reachability + support signals + human review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3794760"/>
            <a:ext cx="3401568" cy="1170432"/>
          </a:xfrm>
          <a:prstGeom prst="roundRect">
            <a:avLst>
              <a:gd name="adj" fmla="val 12000"/>
            </a:avLst>
          </a:prstGeom>
          <a:solidFill>
            <a:srgbClr val="0F1E34"/>
          </a:solidFill>
          <a:ln w="12700">
            <a:solidFill>
              <a:srgbClr val="2B40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3968496"/>
            <a:ext cx="384048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B74D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3931920"/>
            <a:ext cx="2560320" cy="2743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F2F7FC"/>
                </a:solidFill>
                <a:latin typeface="Aptos"/>
              </a:rPr>
              <a:t>PROVE THE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4370832"/>
            <a:ext cx="29718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A6B7CA"/>
                </a:solidFill>
                <a:latin typeface="Aptos"/>
              </a:rPr>
              <a:t>Validate with a randomized retention pilot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687568"/>
            <a:ext cx="2286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9DCC1"/>
                </a:solidFill>
                <a:latin typeface="Aptos Display"/>
              </a:rPr>
              <a:t>Thank you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108192"/>
            <a:ext cx="6217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6B7CA"/>
                </a:solidFill>
                <a:latin typeface="Aptos"/>
              </a:rPr>
              <a:t>Meharunshiya S.  •  Tailwyndz Propel Internship — Assessment 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73952"/>
            <a:ext cx="11183112" cy="0"/>
          </a:xfrm>
          <a:prstGeom prst="line">
            <a:avLst/>
          </a:prstGeom>
          <a:ln w="10160">
            <a:solidFill>
              <a:srgbClr val="2B40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510528"/>
            <a:ext cx="9966960" cy="16459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 i="0">
                <a:solidFill>
                  <a:srgbClr val="69819A"/>
                </a:solidFill>
                <a:latin typeface="Aptos"/>
              </a:rPr>
              <a:t>Source: FreshBasket final report, Phases 18–19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09960" y="6492240"/>
            <a:ext cx="502920" cy="2011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29DCC1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